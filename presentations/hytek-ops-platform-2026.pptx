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 restart="4294967295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072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HYTEK FRAMING  ·  APRIL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2103120"/>
          </a:xfrm>
          <a:prstGeom prst="rect">
            <a:avLst/>
          </a:prstGeom>
          <a:noFill/>
          <a:ln/>
          <a:effectLst>
            <a:outerShdw blurRad="228600" dist="50800" dir="81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0" b="1" kern="0" spc="16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HYTEK</a:t>
            </a:r>
            <a:endParaRPr lang="en-US" sz="24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8046720" cy="9144"/>
          </a:xfrm>
          <a:prstGeom prst="rect">
            <a:avLst/>
          </a:prstGeom>
          <a:solidFill>
            <a:srgbClr val="3A32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kern="0" spc="1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OPERATIONS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quiet revolution in how we run jobs.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—  BEFORE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Five departments.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Zero shared data.</a:t>
            </a:r>
            <a:endParaRPr lang="en-US" sz="90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731520" cy="32004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claims. Lost variations. Nobody knew where a job really stood.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— 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One platform.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6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Five apps. One database.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99516" y="2971800"/>
            <a:ext cx="1417320" cy="86868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9516" y="2971800"/>
            <a:ext cx="141732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" y="2971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PLANNER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1428" y="2971800"/>
            <a:ext cx="1417320" cy="86868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1428" y="2971800"/>
            <a:ext cx="141732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1" name="Text 9"/>
          <p:cNvSpPr/>
          <p:nvPr/>
        </p:nvSpPr>
        <p:spPr>
          <a:xfrm>
            <a:off x="2281428" y="2971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HUB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63340" y="2971800"/>
            <a:ext cx="1417320" cy="86868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63340" y="2971800"/>
            <a:ext cx="141732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4" name="Text 12"/>
          <p:cNvSpPr/>
          <p:nvPr/>
        </p:nvSpPr>
        <p:spPr>
          <a:xfrm>
            <a:off x="3863340" y="2971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DETAILING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45252" y="2971800"/>
            <a:ext cx="1417320" cy="86868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45252" y="2971800"/>
            <a:ext cx="141732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7" name="Text 15"/>
          <p:cNvSpPr/>
          <p:nvPr/>
        </p:nvSpPr>
        <p:spPr>
          <a:xfrm>
            <a:off x="5445252" y="2971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DISPATCH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27164" y="2971800"/>
            <a:ext cx="1417320" cy="86868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27164" y="2971800"/>
            <a:ext cx="141732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0" name="Text 18"/>
          <p:cNvSpPr/>
          <p:nvPr/>
        </p:nvSpPr>
        <p:spPr>
          <a:xfrm>
            <a:off x="7027164" y="2971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INSTALL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8046720" cy="4572"/>
          </a:xfrm>
          <a:prstGeom prst="rect">
            <a:avLst/>
          </a:prstGeom>
          <a:solidFill>
            <a:srgbClr val="3A32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DATABASE  ·  INVOICING FEEDS LIVE FROM THE SAME SOURCE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365760" cy="27432"/>
          </a:xfrm>
          <a:prstGeom prst="rect">
            <a:avLst/>
          </a:prstGeom>
          <a:solidFill>
            <a:srgbClr val="0B0809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kern="0" spc="4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The apps.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08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products. One operating system for the company.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— 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One login.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Every app.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 launcher for every department. One set of credentials. Staff click straight through — no re-logins, no page-hunting.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1234440" cy="118872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74920" y="914400"/>
            <a:ext cx="12344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PLANNER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 &amp; margin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55664" y="914400"/>
            <a:ext cx="1234440" cy="118872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5664" y="914400"/>
            <a:ext cx="12344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DETAILING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5664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&amp; specs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36408" y="914400"/>
            <a:ext cx="1234440" cy="118872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36408" y="914400"/>
            <a:ext cx="12344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8" name="Text 16"/>
          <p:cNvSpPr/>
          <p:nvPr/>
        </p:nvSpPr>
        <p:spPr>
          <a:xfrm>
            <a:off x="7836408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DISPATCH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36408" y="1627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Trips &amp; loads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74920" y="2249424"/>
            <a:ext cx="1234440" cy="118872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74920" y="2249424"/>
            <a:ext cx="12344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5054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INSTALL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962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 claims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55664" y="2249424"/>
            <a:ext cx="1234440" cy="118872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55664" y="2249424"/>
            <a:ext cx="12344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25054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INVOICING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55664" y="2962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claims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36408" y="2249424"/>
            <a:ext cx="1234440" cy="1188720"/>
          </a:xfrm>
          <a:prstGeom prst="rect">
            <a:avLst/>
          </a:prstGeom>
          <a:solidFill>
            <a:srgbClr val="16100F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36408" y="250545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56504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FAB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36408" y="2962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Coming soon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—  DETAILING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Draw it.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Once.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job flows through the detailing pipeline. Status visible to every department — no more chasing detailers on WhatsApp.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54864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914400"/>
            <a:ext cx="54864" cy="548640"/>
          </a:xfrm>
          <a:prstGeom prst="rect">
            <a:avLst/>
          </a:prstGeom>
          <a:solidFill>
            <a:srgbClr val="6FA36F"/>
          </a:solidFill>
          <a:ln/>
        </p:spPr>
      </p:sp>
      <p:sp>
        <p:nvSpPr>
          <p:cNvPr id="10" name="Text 8"/>
          <p:cNvSpPr/>
          <p:nvPr/>
        </p:nvSpPr>
        <p:spPr>
          <a:xfrm>
            <a:off x="5193792" y="914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Springfield Tower 4B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914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6FA3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554480"/>
            <a:ext cx="3840480" cy="54864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554480"/>
            <a:ext cx="54864" cy="54864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Rd Apartments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1554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FABRICATING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194560"/>
            <a:ext cx="3840480" cy="54864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194560"/>
            <a:ext cx="54864" cy="548640"/>
          </a:xfrm>
          <a:prstGeom prst="rect">
            <a:avLst/>
          </a:prstGeom>
          <a:solidFill>
            <a:srgbClr val="6B8DC4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Block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6B8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2834640"/>
            <a:ext cx="3840480" cy="54864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834640"/>
            <a:ext cx="54864" cy="548640"/>
          </a:xfrm>
          <a:prstGeom prst="rect">
            <a:avLst/>
          </a:prstGeom>
          <a:solidFill>
            <a:srgbClr val="6B8DC4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2834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Chermside Offices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6B8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474720"/>
            <a:ext cx="3840480" cy="54864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474720"/>
            <a:ext cx="54864" cy="548640"/>
          </a:xfrm>
          <a:prstGeom prst="rect">
            <a:avLst/>
          </a:prstGeom>
          <a:solidFill>
            <a:srgbClr val="56504E"/>
          </a:solidFill>
          <a:ln/>
        </p:spPr>
      </p:sp>
      <p:sp>
        <p:nvSpPr>
          <p:cNvPr id="26" name="Text 24"/>
          <p:cNvSpPr/>
          <p:nvPr/>
        </p:nvSpPr>
        <p:spPr>
          <a:xfrm>
            <a:off x="5193792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30 Unit Complex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—  DISPATCH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Logistics.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Live board.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truck, every trip, every delivery. Drivers tick off loads on their phone. Installers know exactly what's landing when.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87568" y="91440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91440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14032" y="91440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27264" y="91440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40496" y="91440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 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15000" y="1280160"/>
            <a:ext cx="621792" cy="566928"/>
          </a:xfrm>
          <a:prstGeom prst="rect">
            <a:avLst/>
          </a:prstGeom>
          <a:solidFill>
            <a:srgbClr val="16100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28232" y="1280160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128016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41464" y="1280160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41464" y="128016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54696" y="1280160"/>
            <a:ext cx="621792" cy="566928"/>
          </a:xfrm>
          <a:prstGeom prst="rect">
            <a:avLst/>
          </a:prstGeom>
          <a:solidFill>
            <a:srgbClr val="16100F"/>
          </a:solidFill>
          <a:ln/>
        </p:spPr>
      </p:sp>
      <p:sp>
        <p:nvSpPr>
          <p:cNvPr id="20" name="Shape 18"/>
          <p:cNvSpPr/>
          <p:nvPr/>
        </p:nvSpPr>
        <p:spPr>
          <a:xfrm>
            <a:off x="8567928" y="1280160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67928" y="128016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193852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 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938528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193852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28232" y="1938528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28232" y="193852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41464" y="1938528"/>
            <a:ext cx="621792" cy="566928"/>
          </a:xfrm>
          <a:prstGeom prst="rect">
            <a:avLst/>
          </a:prstGeom>
          <a:solidFill>
            <a:srgbClr val="FFCB05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41464" y="193852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854696" y="1938528"/>
            <a:ext cx="621792" cy="566928"/>
          </a:xfrm>
          <a:prstGeom prst="rect">
            <a:avLst/>
          </a:prstGeom>
          <a:solidFill>
            <a:srgbClr val="16100F"/>
          </a:solidFill>
          <a:ln/>
        </p:spPr>
      </p:sp>
      <p:sp>
        <p:nvSpPr>
          <p:cNvPr id="30" name="Shape 28"/>
          <p:cNvSpPr/>
          <p:nvPr/>
        </p:nvSpPr>
        <p:spPr>
          <a:xfrm>
            <a:off x="8567928" y="1938528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67928" y="193852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259689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 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15000" y="2596896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15000" y="259689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28232" y="2596896"/>
            <a:ext cx="621792" cy="566928"/>
          </a:xfrm>
          <a:prstGeom prst="rect">
            <a:avLst/>
          </a:prstGeom>
          <a:solidFill>
            <a:srgbClr val="16100F"/>
          </a:solidFill>
          <a:ln/>
        </p:spPr>
      </p:sp>
      <p:sp>
        <p:nvSpPr>
          <p:cNvPr id="36" name="Shape 34"/>
          <p:cNvSpPr/>
          <p:nvPr/>
        </p:nvSpPr>
        <p:spPr>
          <a:xfrm>
            <a:off x="7141464" y="2596896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41464" y="259689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54696" y="2596896"/>
            <a:ext cx="621792" cy="566928"/>
          </a:xfrm>
          <a:prstGeom prst="rect">
            <a:avLst/>
          </a:prstGeom>
          <a:solidFill>
            <a:srgbClr val="1F1817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54696" y="259689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567928" y="2596896"/>
            <a:ext cx="621792" cy="566928"/>
          </a:xfrm>
          <a:prstGeom prst="rect">
            <a:avLst/>
          </a:prstGeom>
          <a:solidFill>
            <a:srgbClr val="16100F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—  INSTALL · OFFICE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Budget.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Live. Per job.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dollar of install cost tracked against quote. Site claims flow in, numbers update instantly. No more end-of-month surprises.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338328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051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0936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22376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3816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3474720" cy="9144"/>
          </a:xfrm>
          <a:prstGeom prst="rect">
            <a:avLst/>
          </a:prstGeom>
          <a:solidFill>
            <a:srgbClr val="2A2322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$48,500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$31,200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892808"/>
            <a:ext cx="3291840" cy="73152"/>
          </a:xfrm>
          <a:prstGeom prst="rect">
            <a:avLst/>
          </a:prstGeom>
          <a:solidFill>
            <a:srgbClr val="2A2322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1892808"/>
            <a:ext cx="2106778" cy="73152"/>
          </a:xfrm>
          <a:prstGeom prst="rect">
            <a:avLst/>
          </a:prstGeom>
          <a:solidFill>
            <a:srgbClr val="6FA36F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FA3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1671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1671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$12,000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1671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2551176"/>
            <a:ext cx="3291840" cy="73152"/>
          </a:xfrm>
          <a:prstGeom prst="rect">
            <a:avLst/>
          </a:prstGeom>
          <a:solidFill>
            <a:srgbClr val="2A2322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2551176"/>
            <a:ext cx="2403043" cy="73152"/>
          </a:xfrm>
          <a:prstGeom prst="rect">
            <a:avLst/>
          </a:prstGeom>
          <a:solidFill>
            <a:srgbClr val="E8B86A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21671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825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$2,500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209544"/>
            <a:ext cx="3291840" cy="73152"/>
          </a:xfrm>
          <a:prstGeom prst="rect">
            <a:avLst/>
          </a:prstGeom>
          <a:solidFill>
            <a:srgbClr val="2A2322"/>
          </a:solidFill>
          <a:ln/>
        </p:spPr>
      </p:sp>
      <p:sp>
        <p:nvSpPr>
          <p:cNvPr id="30" name="Shape 28"/>
          <p:cNvSpPr/>
          <p:nvPr/>
        </p:nvSpPr>
        <p:spPr>
          <a:xfrm>
            <a:off x="5120640" y="3209544"/>
            <a:ext cx="1448410" cy="73152"/>
          </a:xfrm>
          <a:prstGeom prst="rect">
            <a:avLst/>
          </a:prstGeom>
          <a:solidFill>
            <a:srgbClr val="6FA36F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28254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FA3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4838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4838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$6,000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4838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867912"/>
            <a:ext cx="3291840" cy="73152"/>
          </a:xfrm>
          <a:prstGeom prst="rect">
            <a:avLst/>
          </a:prstGeom>
          <a:solidFill>
            <a:srgbClr val="2A2322"/>
          </a:solidFill>
          <a:ln/>
        </p:spPr>
      </p:sp>
      <p:sp>
        <p:nvSpPr>
          <p:cNvPr id="36" name="Shape 34"/>
          <p:cNvSpPr/>
          <p:nvPr/>
        </p:nvSpPr>
        <p:spPr>
          <a:xfrm>
            <a:off x="5120640" y="3867912"/>
            <a:ext cx="2962656" cy="73152"/>
          </a:xfrm>
          <a:prstGeom prst="rect">
            <a:avLst/>
          </a:prstGeom>
          <a:solidFill>
            <a:srgbClr val="C87069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34838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7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—  INSTALL · MOBILE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Two taps.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Fifteen seconds.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54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 login. Works on 4G in a roof cavity. Works offline. Syncs when signal returns.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914400"/>
            <a:ext cx="1828800" cy="3657600"/>
          </a:xfrm>
          <a:prstGeom prst="roundRect">
            <a:avLst>
              <a:gd name="adj" fmla="val 11000"/>
            </a:avLst>
          </a:prstGeom>
          <a:solidFill>
            <a:srgbClr val="050404"/>
          </a:solidFill>
          <a:ln w="9525">
            <a:solidFill>
              <a:srgbClr val="2A2322"/>
            </a:solidFill>
            <a:prstDash val="solid"/>
          </a:ln>
          <a:effectLst>
            <a:outerShdw blurRad="444500" dist="1524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1115568"/>
            <a:ext cx="1645920" cy="3255264"/>
          </a:xfrm>
          <a:prstGeom prst="roundRect">
            <a:avLst>
              <a:gd name="adj" fmla="val 7778"/>
            </a:avLst>
          </a:prstGeom>
          <a:solidFill>
            <a:srgbClr val="0B0809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969264"/>
            <a:ext cx="731520" cy="128016"/>
          </a:xfrm>
          <a:prstGeom prst="roundRect">
            <a:avLst>
              <a:gd name="adj" fmla="val 35714"/>
            </a:avLst>
          </a:prstGeom>
          <a:solidFill>
            <a:srgbClr val="050404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2984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HYTEK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572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4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PIN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669280" y="1892808"/>
            <a:ext cx="118872" cy="118872"/>
          </a:xfrm>
          <a:prstGeom prst="ellipse">
            <a:avLst/>
          </a:prstGeom>
          <a:solidFill>
            <a:srgbClr val="FFCB05"/>
          </a:solidFill>
          <a:ln/>
        </p:spPr>
      </p:sp>
      <p:sp>
        <p:nvSpPr>
          <p:cNvPr id="14" name="Shape 12"/>
          <p:cNvSpPr/>
          <p:nvPr/>
        </p:nvSpPr>
        <p:spPr>
          <a:xfrm>
            <a:off x="5879592" y="1892808"/>
            <a:ext cx="118872" cy="118872"/>
          </a:xfrm>
          <a:prstGeom prst="ellipse">
            <a:avLst/>
          </a:prstGeom>
          <a:solidFill>
            <a:srgbClr val="FFCB05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904" y="1892808"/>
            <a:ext cx="118872" cy="118872"/>
          </a:xfrm>
          <a:prstGeom prst="ellipse">
            <a:avLst/>
          </a:prstGeom>
          <a:solidFill>
            <a:srgbClr val="1F181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892808"/>
            <a:ext cx="118872" cy="118872"/>
          </a:xfrm>
          <a:prstGeom prst="ellipse">
            <a:avLst/>
          </a:prstGeom>
          <a:solidFill>
            <a:srgbClr val="1F181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40680" y="2212848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61304" y="2212848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1304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2212848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0680" y="2633472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61304" y="2633472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81928" y="2633472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40680" y="3054096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61304" y="3054096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61304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81928" y="3054096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61304" y="3474720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61304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81928" y="3474720"/>
            <a:ext cx="347472" cy="347472"/>
          </a:xfrm>
          <a:prstGeom prst="ellipse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178040" y="914400"/>
            <a:ext cx="1828800" cy="3657600"/>
          </a:xfrm>
          <a:prstGeom prst="roundRect">
            <a:avLst>
              <a:gd name="adj" fmla="val 11000"/>
            </a:avLst>
          </a:prstGeom>
          <a:solidFill>
            <a:srgbClr val="050404"/>
          </a:solidFill>
          <a:ln w="9525">
            <a:solidFill>
              <a:srgbClr val="2A2322"/>
            </a:solidFill>
            <a:prstDash val="solid"/>
          </a:ln>
          <a:effectLst>
            <a:outerShdw blurRad="444500" dist="152400" dir="8100000" algn="bl" rotWithShape="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69480" y="1115568"/>
            <a:ext cx="1645920" cy="3255264"/>
          </a:xfrm>
          <a:prstGeom prst="roundRect">
            <a:avLst>
              <a:gd name="adj" fmla="val 7778"/>
            </a:avLst>
          </a:prstGeom>
          <a:solidFill>
            <a:srgbClr val="0B0809"/>
          </a:solidFill>
          <a:ln/>
        </p:spPr>
      </p:sp>
      <p:sp>
        <p:nvSpPr>
          <p:cNvPr id="41" name="Shape 39"/>
          <p:cNvSpPr/>
          <p:nvPr/>
        </p:nvSpPr>
        <p:spPr>
          <a:xfrm>
            <a:off x="7726680" y="969264"/>
            <a:ext cx="731520" cy="128016"/>
          </a:xfrm>
          <a:prstGeom prst="roundRect">
            <a:avLst>
              <a:gd name="adj" fmla="val 35714"/>
            </a:avLst>
          </a:prstGeom>
          <a:solidFill>
            <a:srgbClr val="050404"/>
          </a:solidFill>
          <a:ln/>
        </p:spPr>
      </p:sp>
      <p:sp>
        <p:nvSpPr>
          <p:cNvPr id="42" name="Shape 40"/>
          <p:cNvSpPr/>
          <p:nvPr/>
        </p:nvSpPr>
        <p:spPr>
          <a:xfrm>
            <a:off x="7269480" y="1207008"/>
            <a:ext cx="1645920" cy="3657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12070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SPRINGFIELD 4B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60920" y="1664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 CLAIM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360920" y="1865376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F1817"/>
          </a:solidFill>
          <a:ln w="6350">
            <a:solidFill>
              <a:srgbClr val="FFCB0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2360" y="18653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— Type 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60920" y="23500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360920" y="2551176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0B0809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2551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$ 3,450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360920" y="3081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E8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 of item budget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360920" y="3538728"/>
            <a:ext cx="1463040" cy="411480"/>
          </a:xfrm>
          <a:prstGeom prst="roundRect">
            <a:avLst>
              <a:gd name="adj" fmla="val 15556"/>
            </a:avLst>
          </a:prstGeom>
          <a:solidFill>
            <a:srgbClr val="FFCB05"/>
          </a:solidFill>
          <a:ln/>
          <a:effectLst>
            <a:outerShdw blurRad="1778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360920" y="35387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LOG CLAIM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365760" cy="27432"/>
          </a:xfrm>
          <a:prstGeom prst="rect">
            <a:avLst/>
          </a:prstGeom>
          <a:solidFill>
            <a:srgbClr val="0B0809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TWO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0" b="1" kern="0" spc="4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The flow.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B08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a tap on site to a line on an invoice. Nothing lost in between.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—  VARIATIONS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Every change.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Tracked.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813816" y="3063240"/>
            <a:ext cx="1371600" cy="77724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3063240"/>
            <a:ext cx="137160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RAISED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03704" y="3442716"/>
            <a:ext cx="128016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1" name="Shape 9"/>
          <p:cNvSpPr/>
          <p:nvPr/>
        </p:nvSpPr>
        <p:spPr>
          <a:xfrm>
            <a:off x="2350008" y="3063240"/>
            <a:ext cx="1371600" cy="77724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0008" y="3063240"/>
            <a:ext cx="137160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3" name="Text 11"/>
          <p:cNvSpPr/>
          <p:nvPr/>
        </p:nvSpPr>
        <p:spPr>
          <a:xfrm>
            <a:off x="2350008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PRICED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50008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39896" y="3442716"/>
            <a:ext cx="128016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0" y="3063240"/>
            <a:ext cx="1371600" cy="77724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3063240"/>
            <a:ext cx="137160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8" name="Text 16"/>
          <p:cNvSpPr/>
          <p:nvPr/>
        </p:nvSpPr>
        <p:spPr>
          <a:xfrm>
            <a:off x="3886200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76088" y="3442716"/>
            <a:ext cx="128016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22392" y="3063240"/>
            <a:ext cx="1371600" cy="77724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22392" y="3063240"/>
            <a:ext cx="137160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3" name="Text 21"/>
          <p:cNvSpPr/>
          <p:nvPr/>
        </p:nvSpPr>
        <p:spPr>
          <a:xfrm>
            <a:off x="5422392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22392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3442716"/>
            <a:ext cx="128016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6" name="Shape 24"/>
          <p:cNvSpPr/>
          <p:nvPr/>
        </p:nvSpPr>
        <p:spPr>
          <a:xfrm>
            <a:off x="6958584" y="3063240"/>
            <a:ext cx="1371600" cy="777240"/>
          </a:xfrm>
          <a:prstGeom prst="rect">
            <a:avLst/>
          </a:prstGeom>
          <a:solidFill>
            <a:srgbClr val="FFCB05"/>
          </a:solidFill>
          <a:ln w="6350">
            <a:solidFill>
              <a:srgbClr val="FFCB05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58584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INVOICED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58584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PO-backed. Audit trail. Nothing slips between site and invoicing.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—  REWORK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Every defect.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Owned.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468880" cy="137160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971800"/>
            <a:ext cx="246888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FABRICATION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Back-charged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the fab 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971800"/>
            <a:ext cx="2468880" cy="137160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971800"/>
            <a:ext cx="246888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3337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INSTALLER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04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Back-charged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the crew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971800"/>
            <a:ext cx="2468880" cy="137160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971800"/>
            <a:ext cx="246888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154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3337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HYTEK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Absorbed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investigated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—  INVOICING · XERO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Site logs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become invoices.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920240" cy="105156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971800"/>
            <a:ext cx="19202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02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Taps LOG CLAIM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their phone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971800"/>
            <a:ext cx="1920240" cy="1051560"/>
          </a:xfrm>
          <a:prstGeom prst="rect">
            <a:avLst/>
          </a:prstGeom>
          <a:solidFill>
            <a:srgbClr val="FFCB05"/>
          </a:solidFill>
          <a:ln w="6350">
            <a:solidFill>
              <a:srgbClr val="FFCB05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PROGRESS CLAIM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502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8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 item appears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B08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the job invoice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2971800"/>
            <a:ext cx="1920240" cy="1051560"/>
          </a:xfrm>
          <a:prstGeom prst="rect">
            <a:avLst/>
          </a:prstGeom>
          <a:solidFill>
            <a:srgbClr val="1F1817"/>
          </a:solidFill>
          <a:ln w="6350">
            <a:solidFill>
              <a:srgbClr val="3A3230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2971800"/>
            <a:ext cx="1920240" cy="36576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XERO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35021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 invoice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auto-created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3488436"/>
            <a:ext cx="1097280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3442716"/>
            <a:ext cx="109728" cy="109728"/>
          </a:xfrm>
          <a:prstGeom prst="ellipse">
            <a:avLst/>
          </a:prstGeom>
          <a:solidFill>
            <a:srgbClr val="FFCB05"/>
          </a:solidFill>
          <a:ln/>
        </p:spPr>
      </p:sp>
      <p:sp>
        <p:nvSpPr>
          <p:cNvPr id="19" name="Shape 17"/>
          <p:cNvSpPr/>
          <p:nvPr/>
        </p:nvSpPr>
        <p:spPr>
          <a:xfrm>
            <a:off x="5577840" y="3488436"/>
            <a:ext cx="1097280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442716"/>
            <a:ext cx="109728" cy="109728"/>
          </a:xfrm>
          <a:prstGeom prst="ellipse">
            <a:avLst/>
          </a:prstGeom>
          <a:solidFill>
            <a:srgbClr val="FFCB0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97680"/>
            <a:ext cx="45720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re-typing. Zero missed variations. Accounts reviews drafts, doesn't create them.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—  THE 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114800" cy="2560320"/>
          </a:xfrm>
          <a:prstGeom prst="rect">
            <a:avLst/>
          </a:prstGeom>
          <a:noFill/>
          <a:ln/>
          <a:effectLst>
            <a:outerShdw blurRad="228600" dist="50800" dir="81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0" b="1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94</a:t>
            </a:r>
            <a:endParaRPr lang="en-US" sz="280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548640" cy="27432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6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TESTS GREEN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feature backed by automated proof. Nothing ships without a test.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105156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914400"/>
            <a:ext cx="45720" cy="10515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9144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5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355080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APPS DEPLOYED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444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Planner · Hub · Detailing · Dispatch · Install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075688"/>
            <a:ext cx="3840480" cy="105156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075688"/>
            <a:ext cx="45720" cy="10515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075688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78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355080" y="2276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LIVE JOBS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Running on the platform today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236976"/>
            <a:ext cx="3840480" cy="1051560"/>
          </a:xfrm>
          <a:prstGeom prst="rect">
            <a:avLst/>
          </a:prstGeom>
          <a:solidFill>
            <a:srgbClr val="1F1817"/>
          </a:solidFill>
          <a:ln w="6350">
            <a:solidFill>
              <a:srgbClr val="2A2322"/>
            </a:solidFill>
            <a:prstDash val="solid"/>
          </a:ln>
          <a:effectLst>
            <a:outerShdw blurRad="279400" dist="762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36976"/>
            <a:ext cx="45720" cy="10515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236976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CB05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1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6355080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4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SOURCE OF TRUTH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five apps, one database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320040" cy="22860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600" dirty="0">
                <a:solidFill>
                  <a:srgbClr val="A8A0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—  WHAT'S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Next 30 days.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488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Contractor PINs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5328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External crews log progress the same way supervisors do.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457200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0358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Customer sign-off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341985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Client-side supervisors tick off deliveries on their phone.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22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FFCB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288536"/>
            <a:ext cx="457200" cy="18288"/>
          </a:xfrm>
          <a:prstGeom prst="rect">
            <a:avLst/>
          </a:prstGeom>
          <a:solidFill>
            <a:srgbClr val="FFCB05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9227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kern="0" spc="200" dirty="0">
                <a:solidFill>
                  <a:srgbClr val="F5F2EE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Photo evidence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43068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8A0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claim backed by a dated, GPS-tagged photo.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5650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365760" cy="27432"/>
          </a:xfrm>
          <a:prstGeom prst="rect">
            <a:avLst/>
          </a:prstGeom>
          <a:solidFill>
            <a:srgbClr val="0B0809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8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HYTEK FRAMING  ·  APRIL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0" b="1" kern="0" spc="8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HYTEK.</a:t>
            </a:r>
            <a:endParaRPr lang="en-US" sz="260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48640" cy="27432"/>
          </a:xfrm>
          <a:prstGeom prst="rect">
            <a:avLst/>
          </a:prstGeom>
          <a:solidFill>
            <a:srgbClr val="0B080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kern="0" spc="800" dirty="0">
                <a:solidFill>
                  <a:srgbClr val="0B0809"/>
                </a:solidFill>
                <a:latin typeface="Bahnschrift Condensed" pitchFamily="34" charset="0"/>
                <a:ea typeface="Bahnschrift Condensed" pitchFamily="34" charset="-122"/>
                <a:cs typeface="Bahnschrift Condensed" pitchFamily="34" charset="-120"/>
              </a:rPr>
              <a:t>Built for builders.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B08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Scott Textor  ·  Operations Platform  ·  April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47777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400" dirty="0">
                <a:solidFill>
                  <a:srgbClr val="0B08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000"/>
    </mc:Choice>
    <mc:Fallback>
      <p:transition spd="slow" advTm="1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On-screen Show (16:9)</PresentationFormat>
  <Paragraphs>225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Bahnschrift Condensed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HYTEK Framing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HYTEK Operations Platform 2026</dc:title>
  <dc:subject>PptxGenJS Presentation</dc:subject>
  <dc:creator>Scott Textor</dc:creator>
  <cp:lastModifiedBy>Scott Textor</cp:lastModifiedBy>
  <cp:revision>2</cp:revision>
  <dcterms:created xsi:type="dcterms:W3CDTF">2026-04-21T04:54:06Z</dcterms:created>
  <dcterms:modified xsi:type="dcterms:W3CDTF">2026-04-21T04:54:32Z</dcterms:modified>
</cp:coreProperties>
</file>